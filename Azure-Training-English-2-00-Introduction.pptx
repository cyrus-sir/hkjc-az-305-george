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742" r:id="rId5"/>
  </p:sldMasterIdLst>
  <p:notesMasterIdLst>
    <p:notesMasterId r:id="rId13"/>
  </p:notesMasterIdLst>
  <p:handoutMasterIdLst>
    <p:handoutMasterId r:id="rId14"/>
  </p:handoutMasterIdLst>
  <p:sldIdLst>
    <p:sldId id="262" r:id="rId6"/>
    <p:sldId id="1874" r:id="rId7"/>
    <p:sldId id="1875" r:id="rId8"/>
    <p:sldId id="2076138162" r:id="rId9"/>
    <p:sldId id="1886" r:id="rId10"/>
    <p:sldId id="1888" r:id="rId11"/>
    <p:sldId id="1857" r:id="rId1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262"/>
            <p14:sldId id="1874"/>
            <p14:sldId id="1875"/>
            <p14:sldId id="2076138162"/>
            <p14:sldId id="1886"/>
            <p14:sldId id="1888"/>
            <p14:sldId id="185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88F"/>
    <a:srgbClr val="0078D4"/>
    <a:srgbClr val="1A1A1A"/>
    <a:srgbClr val="FFFFFF"/>
    <a:srgbClr val="00BCF2"/>
    <a:srgbClr val="40CDF5"/>
    <a:srgbClr val="40587C"/>
    <a:srgbClr val="00B0E3"/>
    <a:srgbClr val="005291"/>
    <a:srgbClr val="BA6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7BD0C3-EB20-4AD5-B19F-C72EC515270D}" v="2" dt="2021-05-07T22:37:29.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64" autoAdjust="0"/>
  </p:normalViewPr>
  <p:slideViewPr>
    <p:cSldViewPr snapToGrid="0">
      <p:cViewPr>
        <p:scale>
          <a:sx n="90" d="100"/>
          <a:sy n="90" d="100"/>
        </p:scale>
        <p:origin x="1272" y="8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7/14/2022 10:25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7/14/2022 10:17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7/14/2022 10:27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945930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7/14/2022 10:17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479912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484146F-B82A-434C-9C4F-0832F9A133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26A21282-FB9F-47D6-81D7-B96F191BF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672332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389112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4118198574"/>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11171486"/>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642576174"/>
      </p:ext>
    </p:extLst>
  </p:cSld>
  <p:clrMapOvr>
    <a:masterClrMapping/>
  </p:clrMapOvr>
  <p:transition>
    <p:fade/>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446298"/>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74174133"/>
      </p:ext>
    </p:extLst>
  </p:cSld>
  <p:clrMapOvr>
    <a:masterClrMapping/>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03475237"/>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54899687"/>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59096983"/>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5125072"/>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16810003"/>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3313603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9757122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3826621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6399762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3009032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5931839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50001306"/>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25130206"/>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1121767512"/>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65053345"/>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324275441"/>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8019727"/>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15567550"/>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97804248"/>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1549099"/>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29349392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1606519"/>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1777403"/>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184404"/>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7775847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4298124"/>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5671331"/>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71665268"/>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08765799"/>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45857059"/>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85619527"/>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2008338"/>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88512068"/>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12648577"/>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4922718"/>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08990204"/>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66149874"/>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3485828621"/>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3839903117"/>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972092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484146F-B82A-434C-9C4F-0832F9A133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7852272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26A21282-FB9F-47D6-81D7-B96F191BF5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8193" y="5975465"/>
            <a:ext cx="2190448" cy="806762"/>
          </a:xfrm>
          <a:prstGeom prst="rect">
            <a:avLst/>
          </a:prstGeom>
        </p:spPr>
      </p:pic>
    </p:spTree>
    <p:extLst>
      <p:ext uri="{BB962C8B-B14F-4D97-AF65-F5344CB8AC3E}">
        <p14:creationId xmlns:p14="http://schemas.microsoft.com/office/powerpoint/2010/main" val="15811261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3659335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9" Type="http://schemas.openxmlformats.org/officeDocument/2006/relationships/slideLayout" Target="../slideLayouts/slideLayout48.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34" Type="http://schemas.openxmlformats.org/officeDocument/2006/relationships/slideLayout" Target="../slideLayouts/slideLayout43.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50" Type="http://schemas.openxmlformats.org/officeDocument/2006/relationships/slideLayout" Target="../slideLayouts/slideLayout59.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46" Type="http://schemas.openxmlformats.org/officeDocument/2006/relationships/slideLayout" Target="../slideLayouts/slideLayout55.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29" Type="http://schemas.openxmlformats.org/officeDocument/2006/relationships/slideLayout" Target="../slideLayouts/slideLayout38.xml"/><Relationship Id="rId41" Type="http://schemas.openxmlformats.org/officeDocument/2006/relationships/slideLayout" Target="../slideLayouts/slideLayout50.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8" Type="http://schemas.openxmlformats.org/officeDocument/2006/relationships/slideLayout" Target="../slideLayouts/slideLayout17.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09" r:id="rId1"/>
    <p:sldLayoutId id="2147484741" r:id="rId2"/>
    <p:sldLayoutId id="2147484240" r:id="rId3"/>
    <p:sldLayoutId id="2147484241" r:id="rId4"/>
    <p:sldLayoutId id="2147484474" r:id="rId5"/>
    <p:sldLayoutId id="2147484247" r:id="rId6"/>
    <p:sldLayoutId id="2147484603" r:id="rId7"/>
    <p:sldLayoutId id="2147484584" r:id="rId8"/>
    <p:sldLayoutId id="2147484583" r:id="rId9"/>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20F47F7E-C74A-4A65-B7A5-D72925334A6D}"/>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2DDB1D2F-AB16-47E2-AEA2-52185EE73E2E}"/>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F9854452-BEE2-4D6F-AF3F-EDE5557096F1}"/>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E5B85046-081D-4F59-AEE2-421B029011B3}"/>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C44EF8-B27F-4536-ACB0-198F36C24F2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7DC5FA7-6F36-409D-BC70-62B33BEA3FD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17990B-24FF-4B5B-8D31-3B2FFE93BAC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A01494-B921-437B-A423-AB20FB069A4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C5C73E5-7B00-44E0-9374-3355B7B7201B}"/>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3BFEA6-004B-4D27-A931-C1D54015C4F3}"/>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0E74427-0B0E-421F-8E29-397FC22F231F}"/>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CD8DBD4-596F-472F-8D6A-66B6C274E3DF}"/>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31450DF-6901-4582-9532-25A53162441A}"/>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C5A3584-CF26-4747-B278-677319D4F5F6}"/>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375F60-25F0-4830-8906-5E8E350BEED9}"/>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176288-D3AA-4B9F-BE31-BDDA09A81BA6}"/>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F258125-1DFC-4512-95B3-0998DFA64EAB}"/>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A43343-B730-49DC-BA20-1E52B159B080}"/>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1ED16F1-E23F-4744-A1BF-CF4C7350A3ED}"/>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F4F339E-35EA-4535-B93C-146BA9AC868C}"/>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290CBD8-D61A-42FF-A80D-1B39B8CF84B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79BA91F-3BDA-4288-AD5C-BE8833317BE5}"/>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AD3ED5C-8E8E-4AEB-B653-841CD702D9BF}"/>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B79AD9-D798-492D-A2EA-B588782BF4F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1DB1ED9-9E7F-467D-9DE9-636913529AA9}"/>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3FA38F7-7F1D-4E37-B549-8AB0776470DE}"/>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687F059-BB79-41C0-9779-9B93BE85C3B6}"/>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EE6E387-635E-4E7F-A3FD-2A08F62BB9D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536BD53-4F5F-4462-BD2A-4B7F301C5103}"/>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A9654B-7FA0-421D-A086-C1E9D47EBCA7}"/>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F5D5440-94C3-43FF-A2DE-CD15659C8C50}"/>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F3DE375-635E-4C10-AEAA-85CC8F812963}"/>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0705675-F654-42B7-907F-2BFF4E429FD1}"/>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6072DA8-81A3-427C-BA87-555E7E805F3D}"/>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9ACDFF9-1C2A-4022-8D7B-669B8129D1C4}"/>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7089712-815B-4793-B41B-371863CAA2CE}"/>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E111DF8-2BAC-4D3A-9F9B-37CBD53CCD6F}"/>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09588731-E1A9-4E7F-BFCF-F3E5C777D02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5536126-1068-4215-B543-D243D41DF7D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40566296"/>
      </p:ext>
    </p:extLst>
  </p:cSld>
  <p:clrMap bg1="lt1" tx1="dk1" bg2="lt2" tx2="dk2" accent1="accent1" accent2="accent2" accent3="accent3" accent4="accent4" accent5="accent5" accent6="accent6" hlink="hlink" folHlink="folHlink"/>
  <p:sldLayoutIdLst>
    <p:sldLayoutId id="2147484743" r:id="rId1"/>
    <p:sldLayoutId id="2147484744" r:id="rId2"/>
    <p:sldLayoutId id="2147484745" r:id="rId3"/>
    <p:sldLayoutId id="2147484746" r:id="rId4"/>
    <p:sldLayoutId id="2147484747" r:id="rId5"/>
    <p:sldLayoutId id="2147484748" r:id="rId6"/>
    <p:sldLayoutId id="2147484749" r:id="rId7"/>
    <p:sldLayoutId id="2147484750" r:id="rId8"/>
    <p:sldLayoutId id="2147484751" r:id="rId9"/>
    <p:sldLayoutId id="2147484752" r:id="rId10"/>
    <p:sldLayoutId id="2147484753" r:id="rId11"/>
    <p:sldLayoutId id="2147484754" r:id="rId12"/>
    <p:sldLayoutId id="2147484755" r:id="rId13"/>
    <p:sldLayoutId id="2147484756" r:id="rId14"/>
    <p:sldLayoutId id="2147484757" r:id="rId15"/>
    <p:sldLayoutId id="2147484758" r:id="rId16"/>
    <p:sldLayoutId id="2147484759" r:id="rId17"/>
    <p:sldLayoutId id="2147484760" r:id="rId18"/>
    <p:sldLayoutId id="2147484761" r:id="rId19"/>
    <p:sldLayoutId id="2147484762" r:id="rId20"/>
    <p:sldLayoutId id="2147484763" r:id="rId21"/>
    <p:sldLayoutId id="2147484764" r:id="rId22"/>
    <p:sldLayoutId id="2147484765" r:id="rId23"/>
    <p:sldLayoutId id="2147484766" r:id="rId24"/>
    <p:sldLayoutId id="2147484767" r:id="rId25"/>
    <p:sldLayoutId id="2147484768" r:id="rId26"/>
    <p:sldLayoutId id="2147484769" r:id="rId27"/>
    <p:sldLayoutId id="2147484770" r:id="rId28"/>
    <p:sldLayoutId id="2147484771" r:id="rId29"/>
    <p:sldLayoutId id="2147484772" r:id="rId30"/>
    <p:sldLayoutId id="2147484773" r:id="rId31"/>
    <p:sldLayoutId id="2147484774" r:id="rId32"/>
    <p:sldLayoutId id="2147484775" r:id="rId33"/>
    <p:sldLayoutId id="2147484776" r:id="rId34"/>
    <p:sldLayoutId id="2147484777" r:id="rId35"/>
    <p:sldLayoutId id="2147484778" r:id="rId36"/>
    <p:sldLayoutId id="2147484779" r:id="rId37"/>
    <p:sldLayoutId id="2147484780" r:id="rId38"/>
    <p:sldLayoutId id="2147484781" r:id="rId39"/>
    <p:sldLayoutId id="2147484782" r:id="rId40"/>
    <p:sldLayoutId id="2147484783" r:id="rId41"/>
    <p:sldLayoutId id="2147484784" r:id="rId42"/>
    <p:sldLayoutId id="2147484785" r:id="rId43"/>
    <p:sldLayoutId id="2147484786" r:id="rId44"/>
    <p:sldLayoutId id="2147484787" r:id="rId45"/>
    <p:sldLayoutId id="2147484788" r:id="rId46"/>
    <p:sldLayoutId id="2147484789" r:id="rId47"/>
    <p:sldLayoutId id="2147484790" r:id="rId48"/>
    <p:sldLayoutId id="2147484791" r:id="rId49"/>
    <p:sldLayoutId id="2147484792" r:id="rId50"/>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59.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bit.ly/3EVYAj7" TargetMode="Externa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3283505"/>
            <a:ext cx="4167887" cy="1071062"/>
          </a:xfrm>
        </p:spPr>
        <p:txBody>
          <a:bodyPr/>
          <a:lstStyle/>
          <a:p>
            <a:r>
              <a:rPr lang="fr-FR" dirty="0">
                <a:solidFill>
                  <a:schemeClr val="tx1"/>
                </a:solidFill>
              </a:rPr>
              <a:t>Microsoft Azure Training</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34AD-5CA0-463B-8945-5A34D71E77EE}"/>
              </a:ext>
            </a:extLst>
          </p:cNvPr>
          <p:cNvSpPr>
            <a:spLocks noGrp="1"/>
          </p:cNvSpPr>
          <p:nvPr>
            <p:ph type="title"/>
          </p:nvPr>
        </p:nvSpPr>
        <p:spPr/>
        <p:txBody>
          <a:bodyPr/>
          <a:lstStyle/>
          <a:p>
            <a:r>
              <a:rPr lang="en-US" dirty="0"/>
              <a:t>Welcome</a:t>
            </a:r>
          </a:p>
        </p:txBody>
      </p:sp>
      <p:graphicFrame>
        <p:nvGraphicFramePr>
          <p:cNvPr id="4" name="Table 6">
            <a:extLst>
              <a:ext uri="{FF2B5EF4-FFF2-40B4-BE49-F238E27FC236}">
                <a16:creationId xmlns:a16="http://schemas.microsoft.com/office/drawing/2014/main" id="{37FD6B94-AC03-4160-A1B8-18C16DC1240A}"/>
              </a:ext>
            </a:extLst>
          </p:cNvPr>
          <p:cNvGraphicFramePr>
            <a:graphicFrameLocks noGrp="1"/>
          </p:cNvGraphicFramePr>
          <p:nvPr>
            <p:extLst>
              <p:ext uri="{D42A27DB-BD31-4B8C-83A1-F6EECF244321}">
                <p14:modId xmlns:p14="http://schemas.microsoft.com/office/powerpoint/2010/main" val="4176238935"/>
              </p:ext>
            </p:extLst>
          </p:nvPr>
        </p:nvGraphicFramePr>
        <p:xfrm>
          <a:off x="432089" y="1120690"/>
          <a:ext cx="11341268" cy="4109466"/>
        </p:xfrm>
        <a:graphic>
          <a:graphicData uri="http://schemas.openxmlformats.org/drawingml/2006/table">
            <a:tbl>
              <a:tblPr firstRow="1" bandRow="1">
                <a:tableStyleId>{5C22544A-7EE6-4342-B048-85BDC9FD1C3A}</a:tableStyleId>
              </a:tblPr>
              <a:tblGrid>
                <a:gridCol w="5670634">
                  <a:extLst>
                    <a:ext uri="{9D8B030D-6E8A-4147-A177-3AD203B41FA5}">
                      <a16:colId xmlns:a16="http://schemas.microsoft.com/office/drawing/2014/main" val="2255807720"/>
                    </a:ext>
                  </a:extLst>
                </a:gridCol>
                <a:gridCol w="5670634">
                  <a:extLst>
                    <a:ext uri="{9D8B030D-6E8A-4147-A177-3AD203B41FA5}">
                      <a16:colId xmlns:a16="http://schemas.microsoft.com/office/drawing/2014/main" val="2856454902"/>
                    </a:ext>
                  </a:extLst>
                </a:gridCol>
              </a:tblGrid>
              <a:tr h="370840">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Thank you for joining us today.</a:t>
                      </a:r>
                      <a:endParaRPr lang="en-US" sz="2000" b="0" kern="1200" dirty="0">
                        <a:solidFill>
                          <a:schemeClr val="lt1"/>
                        </a:solidFill>
                        <a:latin typeface="+mj-lt"/>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Segoe UI" panose="020B0502040204020203" pitchFamily="34" charset="0"/>
                          <a:cs typeface="Segoe UI" panose="020B0502040204020203" pitchFamily="34" charset="0"/>
                        </a:rPr>
                        <a:t>We’ve worked together with the Microsoft Partner Network and Microsoft IT Academies to bring you a world-class learning experience. </a:t>
                      </a:r>
                    </a:p>
                    <a:p>
                      <a:pPr marL="0" marR="0" lvl="0" indent="0" algn="l" defTabSz="914367" rtl="0" eaLnBrk="1" fontAlgn="auto" latinLnBrk="0" hangingPunct="1">
                        <a:lnSpc>
                          <a:spcPct val="100000"/>
                        </a:lnSpc>
                        <a:spcBef>
                          <a:spcPts val="0"/>
                        </a:spcBef>
                        <a:spcAft>
                          <a:spcPts val="0"/>
                        </a:spcAft>
                        <a:buClrTx/>
                        <a:buSzTx/>
                        <a:buFontTx/>
                        <a:buNone/>
                        <a:tabLst/>
                        <a:defRPr/>
                      </a:pPr>
                      <a:endParaRPr lang="en-US" dirty="0"/>
                    </a:p>
                  </a:txBody>
                  <a:tcPr>
                    <a:solidFill>
                      <a:schemeClr val="bg2"/>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Microsoft Certified Trainers + Instructors.</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Your instructor is a premier technical and instructional expert who meets ongoing certification requirements. </a:t>
                      </a:r>
                    </a:p>
                  </a:txBody>
                  <a:tcPr>
                    <a:solidFill>
                      <a:schemeClr val="bg2"/>
                    </a:solidFill>
                  </a:tcPr>
                </a:tc>
                <a:extLst>
                  <a:ext uri="{0D108BD9-81ED-4DB2-BD59-A6C34878D82A}">
                    <a16:rowId xmlns:a16="http://schemas.microsoft.com/office/drawing/2014/main" val="3074192712"/>
                  </a:ext>
                </a:extLst>
              </a:tr>
              <a:tr h="370840">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rgbClr val="0070C0"/>
                          </a:solidFill>
                          <a:latin typeface="+mj-lt"/>
                          <a:ea typeface="+mn-ea"/>
                          <a:cs typeface="+mn-cs"/>
                        </a:rPr>
                        <a:t>Customer Satisfaction Guarantee.</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Our partners offer a satisfaction guarantee, and we hold them accountable for it. </a:t>
                      </a:r>
                      <a:br>
                        <a:rPr lang="en-US" sz="2000" b="0" kern="1200" dirty="0">
                          <a:solidFill>
                            <a:schemeClr val="tx1"/>
                          </a:solidFill>
                          <a:latin typeface="Segoe UI" panose="020B0502040204020203" pitchFamily="34" charset="0"/>
                          <a:ea typeface="+mn-ea"/>
                          <a:cs typeface="Segoe UI" panose="020B0502040204020203" pitchFamily="34" charset="0"/>
                        </a:rPr>
                      </a:br>
                      <a:endParaRPr lang="en-US" sz="2000" b="0" kern="1200" dirty="0">
                        <a:solidFill>
                          <a:schemeClr val="tx1"/>
                        </a:solidFill>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At the end of class, please complete an evaluation of today’s experience. We value your feedback!  </a:t>
                      </a:r>
                    </a:p>
                  </a:txBody>
                  <a:tcPr>
                    <a:solidFill>
                      <a:schemeClr val="bg2"/>
                    </a:solidFill>
                  </a:tcPr>
                </a:tc>
                <a:tc>
                  <a:txBody>
                    <a:bodyPr/>
                    <a:lstStyle/>
                    <a:p>
                      <a:pPr marL="0" indent="0">
                        <a:spcBef>
                          <a:spcPts val="0"/>
                        </a:spcBef>
                        <a:buFont typeface="Wingdings" panose="05000000000000000000" pitchFamily="2" charset="2"/>
                        <a:buNone/>
                      </a:pPr>
                      <a:r>
                        <a:rPr lang="en-US" sz="2000" b="0" kern="1200" dirty="0">
                          <a:solidFill>
                            <a:srgbClr val="0070C0"/>
                          </a:solidFill>
                          <a:latin typeface="+mj-lt"/>
                          <a:ea typeface="+mn-ea"/>
                          <a:cs typeface="+mn-cs"/>
                        </a:rPr>
                        <a:t>Certification Exam Benefits.</a:t>
                      </a: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After training, consider pursuing a Microsoft Certification to help distinguish your technical expertise and experience. Ask your instructor about available exam promotions and discounts.</a:t>
                      </a:r>
                    </a:p>
                    <a:p>
                      <a:pPr marL="0" marR="0" lvl="0" indent="0" algn="l" defTabSz="914367" rtl="0" eaLnBrk="1" fontAlgn="auto" latinLnBrk="0" hangingPunct="1">
                        <a:lnSpc>
                          <a:spcPct val="100000"/>
                        </a:lnSpc>
                        <a:spcBef>
                          <a:spcPts val="0"/>
                        </a:spcBef>
                        <a:spcAft>
                          <a:spcPts val="0"/>
                        </a:spcAft>
                        <a:buClrTx/>
                        <a:buSzTx/>
                        <a:buFontTx/>
                        <a:buNone/>
                        <a:tabLst/>
                        <a:defRPr/>
                      </a:pPr>
                      <a:endParaRPr lang="en-US" sz="2000" b="0" kern="1200" dirty="0">
                        <a:solidFill>
                          <a:schemeClr val="tx1"/>
                        </a:solidFill>
                        <a:latin typeface="Segoe UI" panose="020B0502040204020203" pitchFamily="34" charset="0"/>
                        <a:ea typeface="+mn-ea"/>
                        <a:cs typeface="Segoe UI" panose="020B0502040204020203" pitchFamily="34" charset="0"/>
                      </a:endParaRPr>
                    </a:p>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latin typeface="Segoe UI" panose="020B0502040204020203" pitchFamily="34" charset="0"/>
                          <a:ea typeface="+mn-ea"/>
                          <a:cs typeface="Segoe UI" panose="020B0502040204020203" pitchFamily="34" charset="0"/>
                        </a:rPr>
                        <a:t>We wish you a great learning experience and ongoing career success!</a:t>
                      </a:r>
                      <a:endParaRPr lang="en-US" dirty="0">
                        <a:solidFill>
                          <a:schemeClr val="tx1"/>
                        </a:solidFill>
                      </a:endParaRPr>
                    </a:p>
                  </a:txBody>
                  <a:tcPr>
                    <a:solidFill>
                      <a:schemeClr val="bg2"/>
                    </a:solidFill>
                  </a:tcPr>
                </a:tc>
                <a:extLst>
                  <a:ext uri="{0D108BD9-81ED-4DB2-BD59-A6C34878D82A}">
                    <a16:rowId xmlns:a16="http://schemas.microsoft.com/office/drawing/2014/main" val="382848287"/>
                  </a:ext>
                </a:extLst>
              </a:tr>
            </a:tbl>
          </a:graphicData>
        </a:graphic>
      </p:graphicFrame>
    </p:spTree>
    <p:extLst>
      <p:ext uri="{BB962C8B-B14F-4D97-AF65-F5344CB8AC3E}">
        <p14:creationId xmlns:p14="http://schemas.microsoft.com/office/powerpoint/2010/main" val="321900275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2FEE7-5008-4DA1-892C-91635126B322}"/>
              </a:ext>
            </a:extLst>
          </p:cNvPr>
          <p:cNvSpPr>
            <a:spLocks noGrp="1"/>
          </p:cNvSpPr>
          <p:nvPr>
            <p:ph type="title"/>
          </p:nvPr>
        </p:nvSpPr>
        <p:spPr/>
        <p:txBody>
          <a:bodyPr>
            <a:normAutofit/>
          </a:bodyPr>
          <a:lstStyle/>
          <a:p>
            <a:r>
              <a:rPr lang="en-US" dirty="0"/>
              <a:t>Hello, World!</a:t>
            </a:r>
          </a:p>
        </p:txBody>
      </p:sp>
      <p:sp>
        <p:nvSpPr>
          <p:cNvPr id="12" name="Text Placeholder 11">
            <a:extLst>
              <a:ext uri="{FF2B5EF4-FFF2-40B4-BE49-F238E27FC236}">
                <a16:creationId xmlns:a16="http://schemas.microsoft.com/office/drawing/2014/main" id="{07BCCABA-E2B3-4E60-8DF7-9DE67965D7C3}"/>
              </a:ext>
            </a:extLst>
          </p:cNvPr>
          <p:cNvSpPr>
            <a:spLocks noGrp="1"/>
          </p:cNvSpPr>
          <p:nvPr>
            <p:ph sz="quarter" idx="10"/>
          </p:nvPr>
        </p:nvSpPr>
        <p:spPr>
          <a:xfrm>
            <a:off x="419449" y="1457179"/>
            <a:ext cx="5056153" cy="5555367"/>
          </a:xfrm>
        </p:spPr>
        <p:txBody>
          <a:bodyPr/>
          <a:lstStyle/>
          <a:p>
            <a:pPr marL="342834" indent="-342834">
              <a:buFont typeface="Arial" panose="020B0604020202020204" pitchFamily="34" charset="0"/>
              <a:buChar char="•"/>
            </a:pPr>
            <a:r>
              <a:rPr lang="en-US" dirty="0">
                <a:latin typeface="+mn-lt"/>
              </a:rPr>
              <a:t>Cyrus Cheng</a:t>
            </a:r>
          </a:p>
          <a:p>
            <a:pPr marL="342834" indent="-342834">
              <a:buFont typeface="Arial" panose="020B0604020202020204" pitchFamily="34" charset="0"/>
              <a:buChar char="•"/>
            </a:pPr>
            <a:r>
              <a:rPr lang="en-US" sz="1800" dirty="0">
                <a:latin typeface="+mn-lt"/>
              </a:rPr>
              <a:t>Microsoft Certified Trainer (Since 2019)</a:t>
            </a:r>
            <a:br>
              <a:rPr lang="en-US" sz="1800" dirty="0">
                <a:latin typeface="+mn-lt"/>
              </a:rPr>
            </a:br>
            <a:r>
              <a:rPr lang="en-US" sz="1800" dirty="0">
                <a:latin typeface="+mn-lt"/>
              </a:rPr>
              <a:t>Azure Solutions Architect</a:t>
            </a:r>
            <a:br>
              <a:rPr lang="en-US" sz="1800" dirty="0">
                <a:latin typeface="+mn-lt"/>
              </a:rPr>
            </a:br>
            <a:r>
              <a:rPr lang="en-US" sz="1800" dirty="0">
                <a:latin typeface="+mn-lt"/>
              </a:rPr>
              <a:t>Azure Developer Associate</a:t>
            </a:r>
          </a:p>
          <a:p>
            <a:pPr marL="342834" indent="-342834">
              <a:buFont typeface="Arial" panose="020B0604020202020204" pitchFamily="34" charset="0"/>
              <a:buChar char="•"/>
            </a:pPr>
            <a:r>
              <a:rPr lang="en-US" dirty="0">
                <a:latin typeface="+mn-lt"/>
              </a:rPr>
              <a:t>ITSWS - </a:t>
            </a:r>
            <a:r>
              <a:rPr lang="en-US" dirty="0" err="1">
                <a:latin typeface="+mn-lt"/>
              </a:rPr>
              <a:t>Cashout</a:t>
            </a:r>
            <a:r>
              <a:rPr lang="en-US" dirty="0">
                <a:latin typeface="+mn-lt"/>
              </a:rPr>
              <a:t> Team Tech. Lead</a:t>
            </a:r>
            <a:br>
              <a:rPr lang="en-US" dirty="0">
                <a:latin typeface="+mn-lt"/>
              </a:rPr>
            </a:br>
            <a:r>
              <a:rPr lang="en-US" dirty="0">
                <a:latin typeface="+mn-lt"/>
              </a:rPr>
              <a:t>HKMU Parttime Lecturer</a:t>
            </a:r>
          </a:p>
          <a:p>
            <a:pPr marL="342834" indent="-342834">
              <a:buFont typeface="Arial" panose="020B0604020202020204" pitchFamily="34" charset="0"/>
              <a:buChar char="•"/>
            </a:pPr>
            <a:r>
              <a:rPr lang="en-US" dirty="0">
                <a:latin typeface="+mn-lt"/>
              </a:rPr>
              <a:t>Specialized in</a:t>
            </a:r>
          </a:p>
          <a:p>
            <a:pPr marL="678915" lvl="1" indent="-342834"/>
            <a:r>
              <a:rPr lang="en-US" dirty="0"/>
              <a:t>Azure, </a:t>
            </a:r>
            <a:r>
              <a:rPr lang="en-US" dirty="0">
                <a:latin typeface="+mn-lt"/>
              </a:rPr>
              <a:t>SharePoint</a:t>
            </a:r>
            <a:r>
              <a:rPr lang="en-US" dirty="0"/>
              <a:t>, .NET</a:t>
            </a:r>
          </a:p>
          <a:p>
            <a:pPr marL="678915" lvl="1" indent="-342834"/>
            <a:r>
              <a:rPr lang="en-US" dirty="0"/>
              <a:t>Spring Boot / Spring Cloud</a:t>
            </a:r>
          </a:p>
          <a:p>
            <a:pPr marL="678915" lvl="1" indent="-342834"/>
            <a:r>
              <a:rPr lang="en-US" dirty="0"/>
              <a:t>React, Vue</a:t>
            </a:r>
          </a:p>
          <a:p>
            <a:pPr marL="678915" lvl="1" indent="-342834"/>
            <a:r>
              <a:rPr lang="en-US" dirty="0">
                <a:latin typeface="+mn-lt"/>
              </a:rPr>
              <a:t>K8</a:t>
            </a:r>
            <a:r>
              <a:rPr lang="en-US" dirty="0"/>
              <a:t>S Development</a:t>
            </a:r>
          </a:p>
          <a:p>
            <a:pPr marL="678915" lvl="1" indent="-342834"/>
            <a:r>
              <a:rPr lang="en-US">
                <a:latin typeface="+mn-lt"/>
              </a:rPr>
              <a:t>Microservices </a:t>
            </a:r>
            <a:r>
              <a:rPr lang="en-US" dirty="0">
                <a:latin typeface="+mn-lt"/>
              </a:rPr>
              <a:t>Arch. Design</a:t>
            </a:r>
          </a:p>
          <a:p>
            <a:pPr marL="342834" indent="-342834">
              <a:buFont typeface="Arial" panose="020B0604020202020204" pitchFamily="34" charset="0"/>
              <a:buChar char="•"/>
            </a:pPr>
            <a:endParaRPr lang="en-US" dirty="0">
              <a:latin typeface="+mn-lt"/>
            </a:endParaRPr>
          </a:p>
        </p:txBody>
      </p:sp>
      <p:pic>
        <p:nvPicPr>
          <p:cNvPr id="1026" name="Picture 2" descr="Cyrus Cheng">
            <a:extLst>
              <a:ext uri="{FF2B5EF4-FFF2-40B4-BE49-F238E27FC236}">
                <a16:creationId xmlns:a16="http://schemas.microsoft.com/office/drawing/2014/main" id="{B7E59943-451C-6487-B28F-C8D47E0AA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800" y="1214005"/>
            <a:ext cx="2116464" cy="21164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oft Certified Trainer 2022-2023">
            <a:extLst>
              <a:ext uri="{FF2B5EF4-FFF2-40B4-BE49-F238E27FC236}">
                <a16:creationId xmlns:a16="http://schemas.microsoft.com/office/drawing/2014/main" id="{73CF0C9E-B2BB-B5BA-89FB-79DBD30EC6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4805" y="3872404"/>
            <a:ext cx="1369190" cy="13691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oft Certified: Azure Developer Associate (Legacy)">
            <a:extLst>
              <a:ext uri="{FF2B5EF4-FFF2-40B4-BE49-F238E27FC236}">
                <a16:creationId xmlns:a16="http://schemas.microsoft.com/office/drawing/2014/main" id="{B56BFC1F-5CD8-BB6E-7FF9-2EA4CFEBED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2799" y="3872404"/>
            <a:ext cx="1369190" cy="13691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icrosoft Microsoft Certified: Azure Solutions Architect Expert  Certification Practice Test Questions &amp; Exam Dumps - PrepAway">
            <a:extLst>
              <a:ext uri="{FF2B5EF4-FFF2-40B4-BE49-F238E27FC236}">
                <a16:creationId xmlns:a16="http://schemas.microsoft.com/office/drawing/2014/main" id="{CA55488E-E63F-FAF8-2E08-20890B3086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4379" y="3793750"/>
            <a:ext cx="2290548" cy="147249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icrosoft Certified: Power Platform Fundamentals">
            <a:extLst>
              <a:ext uri="{FF2B5EF4-FFF2-40B4-BE49-F238E27FC236}">
                <a16:creationId xmlns:a16="http://schemas.microsoft.com/office/drawing/2014/main" id="{0B020B68-4A89-47CD-14F1-4DD102C4DE8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44357" y="5334580"/>
            <a:ext cx="1120343" cy="112034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Certified: Azure AI Fundamentals">
            <a:extLst>
              <a:ext uri="{FF2B5EF4-FFF2-40B4-BE49-F238E27FC236}">
                <a16:creationId xmlns:a16="http://schemas.microsoft.com/office/drawing/2014/main" id="{DFFBBEAF-F067-00A2-AA7A-67CE5944959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46413" y="5334580"/>
            <a:ext cx="1100907" cy="110090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Microsoft Certified: Azure Data Fundamentals">
            <a:extLst>
              <a:ext uri="{FF2B5EF4-FFF2-40B4-BE49-F238E27FC236}">
                <a16:creationId xmlns:a16="http://schemas.microsoft.com/office/drawing/2014/main" id="{29900167-D68E-EDB7-2E33-3289E4EE25E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14020" y="5323287"/>
            <a:ext cx="1100907" cy="110090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MCSD: App Builder — Certified 2018">
            <a:extLst>
              <a:ext uri="{FF2B5EF4-FFF2-40B4-BE49-F238E27FC236}">
                <a16:creationId xmlns:a16="http://schemas.microsoft.com/office/drawing/2014/main" id="{4A9A6423-BED0-29A5-4917-04F42901064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42302" y="5313569"/>
            <a:ext cx="1120343" cy="1120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39405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A11E-BCFC-2CC8-0F44-286B6CD611C3}"/>
              </a:ext>
            </a:extLst>
          </p:cNvPr>
          <p:cNvSpPr>
            <a:spLocks noGrp="1"/>
          </p:cNvSpPr>
          <p:nvPr>
            <p:ph type="title"/>
          </p:nvPr>
        </p:nvSpPr>
        <p:spPr>
          <a:xfrm>
            <a:off x="442766" y="439819"/>
            <a:ext cx="11306469" cy="402302"/>
          </a:xfrm>
        </p:spPr>
        <p:txBody>
          <a:bodyPr/>
          <a:lstStyle/>
          <a:p>
            <a:r>
              <a:rPr lang="en-HK" dirty="0"/>
              <a:t>How to pronounce “Azure”</a:t>
            </a:r>
          </a:p>
        </p:txBody>
      </p:sp>
      <p:sp>
        <p:nvSpPr>
          <p:cNvPr id="4" name="TextBox 3">
            <a:extLst>
              <a:ext uri="{FF2B5EF4-FFF2-40B4-BE49-F238E27FC236}">
                <a16:creationId xmlns:a16="http://schemas.microsoft.com/office/drawing/2014/main" id="{4AF7B45A-4969-05E9-F400-E1CF8426B04C}"/>
              </a:ext>
            </a:extLst>
          </p:cNvPr>
          <p:cNvSpPr txBox="1"/>
          <p:nvPr/>
        </p:nvSpPr>
        <p:spPr>
          <a:xfrm>
            <a:off x="5047516" y="4776711"/>
            <a:ext cx="2288519" cy="362072"/>
          </a:xfrm>
          <a:prstGeom prst="rect">
            <a:avLst/>
          </a:prstGeom>
          <a:noFill/>
        </p:spPr>
        <p:txBody>
          <a:bodyPr wrap="square">
            <a:spAutoFit/>
          </a:bodyPr>
          <a:lstStyle/>
          <a:p>
            <a:r>
              <a:rPr lang="en-HK" sz="1730" dirty="0">
                <a:hlinkClick r:id="rId2"/>
              </a:rPr>
              <a:t>https://bit.ly/3EVYAj7</a:t>
            </a:r>
            <a:r>
              <a:rPr lang="en-HK" sz="1730" dirty="0"/>
              <a:t> </a:t>
            </a:r>
          </a:p>
        </p:txBody>
      </p:sp>
      <p:pic>
        <p:nvPicPr>
          <p:cNvPr id="8" name="Picture 7">
            <a:extLst>
              <a:ext uri="{FF2B5EF4-FFF2-40B4-BE49-F238E27FC236}">
                <a16:creationId xmlns:a16="http://schemas.microsoft.com/office/drawing/2014/main" id="{A7591F28-55C9-455D-DEF9-1F36BDE363BE}"/>
              </a:ext>
            </a:extLst>
          </p:cNvPr>
          <p:cNvPicPr>
            <a:picLocks noChangeAspect="1"/>
          </p:cNvPicPr>
          <p:nvPr/>
        </p:nvPicPr>
        <p:blipFill>
          <a:blip r:embed="rId3"/>
          <a:stretch>
            <a:fillRect/>
          </a:stretch>
        </p:blipFill>
        <p:spPr>
          <a:xfrm>
            <a:off x="3806785" y="1392845"/>
            <a:ext cx="4630541" cy="3014177"/>
          </a:xfrm>
          <a:prstGeom prst="rect">
            <a:avLst/>
          </a:prstGeom>
        </p:spPr>
      </p:pic>
      <p:sp>
        <p:nvSpPr>
          <p:cNvPr id="9" name="TextBox 8">
            <a:extLst>
              <a:ext uri="{FF2B5EF4-FFF2-40B4-BE49-F238E27FC236}">
                <a16:creationId xmlns:a16="http://schemas.microsoft.com/office/drawing/2014/main" id="{97FD2AF5-70EB-41EC-2725-937F4EED01C1}"/>
              </a:ext>
            </a:extLst>
          </p:cNvPr>
          <p:cNvSpPr txBox="1"/>
          <p:nvPr/>
        </p:nvSpPr>
        <p:spPr>
          <a:xfrm>
            <a:off x="4252405" y="5465156"/>
            <a:ext cx="4074627" cy="941374"/>
          </a:xfrm>
          <a:prstGeom prst="rect">
            <a:avLst/>
          </a:prstGeom>
          <a:noFill/>
        </p:spPr>
        <p:txBody>
          <a:bodyPr wrap="none" lIns="179285" tIns="143428" rIns="179285" bIns="143428" rtlCol="0">
            <a:spAutoFit/>
          </a:bodyPr>
          <a:lstStyle/>
          <a:p>
            <a:pPr algn="ctr">
              <a:lnSpc>
                <a:spcPct val="90000"/>
              </a:lnSpc>
              <a:spcAft>
                <a:spcPts val="588"/>
              </a:spcAft>
            </a:pPr>
            <a:r>
              <a:rPr lang="en-HK" altLang="zh-TW" sz="2353" b="1" dirty="0">
                <a:solidFill>
                  <a:schemeClr val="accent4"/>
                </a:solidFill>
              </a:rPr>
              <a:t>Azure</a:t>
            </a:r>
            <a:br>
              <a:rPr lang="en-HK" altLang="zh-TW" sz="2353" b="1" dirty="0">
                <a:solidFill>
                  <a:schemeClr val="accent4"/>
                </a:solidFill>
              </a:rPr>
            </a:br>
            <a:r>
              <a:rPr lang="en-HK" altLang="zh-TW" sz="2353" b="1" dirty="0"/>
              <a:t>meaning : </a:t>
            </a:r>
            <a:r>
              <a:rPr lang="en-HK" altLang="zh-TW" sz="2353" b="1" dirty="0">
                <a:solidFill>
                  <a:schemeClr val="accent4"/>
                </a:solidFill>
              </a:rPr>
              <a:t>Sky-blue colour</a:t>
            </a:r>
            <a:endParaRPr lang="en-HK" sz="2353" b="1" dirty="0">
              <a:solidFill>
                <a:schemeClr val="accent4"/>
              </a:solidFill>
            </a:endParaRPr>
          </a:p>
        </p:txBody>
      </p:sp>
    </p:spTree>
    <p:extLst>
      <p:ext uri="{BB962C8B-B14F-4D97-AF65-F5344CB8AC3E}">
        <p14:creationId xmlns:p14="http://schemas.microsoft.com/office/powerpoint/2010/main" val="4314748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E70478-E774-40C4-8729-EFEB83E0DAFF}"/>
              </a:ext>
            </a:extLst>
          </p:cNvPr>
          <p:cNvSpPr>
            <a:spLocks noGrp="1"/>
          </p:cNvSpPr>
          <p:nvPr>
            <p:ph type="title"/>
          </p:nvPr>
        </p:nvSpPr>
        <p:spPr/>
        <p:txBody>
          <a:bodyPr/>
          <a:lstStyle/>
          <a:p>
            <a:r>
              <a:rPr lang="en-US" dirty="0"/>
              <a:t>About the original course</a:t>
            </a:r>
          </a:p>
        </p:txBody>
      </p:sp>
      <p:sp>
        <p:nvSpPr>
          <p:cNvPr id="3" name="Text Placeholder 2">
            <a:extLst>
              <a:ext uri="{FF2B5EF4-FFF2-40B4-BE49-F238E27FC236}">
                <a16:creationId xmlns:a16="http://schemas.microsoft.com/office/drawing/2014/main" id="{C7800266-E237-4CBA-8E39-3A0C482C87E3}"/>
              </a:ext>
            </a:extLst>
          </p:cNvPr>
          <p:cNvSpPr>
            <a:spLocks noGrp="1"/>
          </p:cNvSpPr>
          <p:nvPr>
            <p:ph sz="quarter" idx="10"/>
          </p:nvPr>
        </p:nvSpPr>
        <p:spPr>
          <a:xfrm>
            <a:off x="419100" y="1456896"/>
            <a:ext cx="11340811" cy="3016210"/>
          </a:xfrm>
        </p:spPr>
        <p:txBody>
          <a:bodyPr/>
          <a:lstStyle/>
          <a:p>
            <a:pPr marL="342900" indent="-342900">
              <a:spcAft>
                <a:spcPts val="1200"/>
              </a:spcAft>
              <a:buFont typeface="Arial" panose="020B0604020202020204" pitchFamily="34" charset="0"/>
              <a:buChar char="•"/>
            </a:pPr>
            <a:r>
              <a:rPr lang="en-US" sz="2400" dirty="0">
                <a:latin typeface="+mn-lt"/>
              </a:rPr>
              <a:t>This course provides foundational level knowledge on cloud concepts; core Azure architecture and services; and Azure management and governance.</a:t>
            </a:r>
          </a:p>
          <a:p>
            <a:pPr marL="342900" indent="-342900">
              <a:spcAft>
                <a:spcPts val="1200"/>
              </a:spcAft>
              <a:buFont typeface="Arial" panose="020B0604020202020204" pitchFamily="34" charset="0"/>
              <a:buChar char="•"/>
            </a:pPr>
            <a:r>
              <a:rPr lang="en-US" sz="2400" dirty="0">
                <a:latin typeface="+mn-lt"/>
              </a:rPr>
              <a:t>The audience for this course is just beginning to learn about cloud computing and how Microsoft Azure provides that service. </a:t>
            </a:r>
          </a:p>
          <a:p>
            <a:pPr marL="342900" indent="-342900">
              <a:spcAft>
                <a:spcPts val="1200"/>
              </a:spcAft>
              <a:buFont typeface="Arial" panose="020B0604020202020204" pitchFamily="34" charset="0"/>
              <a:buChar char="•"/>
            </a:pPr>
            <a:r>
              <a:rPr lang="en-US" sz="2400" dirty="0">
                <a:latin typeface="+mn-lt"/>
              </a:rPr>
              <a:t>This is a two-day course, the content aligns to the AZ-900 exam objective domain.</a:t>
            </a:r>
          </a:p>
          <a:p>
            <a:pPr marL="342900" indent="-342900">
              <a:spcAft>
                <a:spcPts val="1200"/>
              </a:spcAft>
              <a:buFont typeface="Arial" panose="020B0604020202020204" pitchFamily="34" charset="0"/>
              <a:buChar char="•"/>
            </a:pPr>
            <a:r>
              <a:rPr lang="en-US" sz="2400" dirty="0">
                <a:latin typeface="+mn-lt"/>
              </a:rPr>
              <a:t>It’s recommended that you have an IT background for this course.</a:t>
            </a:r>
            <a:endParaRPr lang="en-US" sz="2400" dirty="0"/>
          </a:p>
        </p:txBody>
      </p:sp>
    </p:spTree>
    <p:extLst>
      <p:ext uri="{BB962C8B-B14F-4D97-AF65-F5344CB8AC3E}">
        <p14:creationId xmlns:p14="http://schemas.microsoft.com/office/powerpoint/2010/main" val="34236016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73FDF-791C-153E-055A-B078614F3103}"/>
              </a:ext>
            </a:extLst>
          </p:cNvPr>
          <p:cNvSpPr>
            <a:spLocks noGrp="1"/>
          </p:cNvSpPr>
          <p:nvPr>
            <p:ph type="title"/>
          </p:nvPr>
        </p:nvSpPr>
        <p:spPr/>
        <p:txBody>
          <a:bodyPr/>
          <a:lstStyle/>
          <a:p>
            <a:r>
              <a:rPr lang="en-HK" dirty="0"/>
              <a:t>About this technical sharing</a:t>
            </a:r>
          </a:p>
        </p:txBody>
      </p:sp>
      <p:sp>
        <p:nvSpPr>
          <p:cNvPr id="3" name="Content Placeholder 2">
            <a:extLst>
              <a:ext uri="{FF2B5EF4-FFF2-40B4-BE49-F238E27FC236}">
                <a16:creationId xmlns:a16="http://schemas.microsoft.com/office/drawing/2014/main" id="{96A17B00-5CFF-7418-F08E-C199ECC9CFAE}"/>
              </a:ext>
            </a:extLst>
          </p:cNvPr>
          <p:cNvSpPr>
            <a:spLocks noGrp="1"/>
          </p:cNvSpPr>
          <p:nvPr>
            <p:ph sz="quarter" idx="10"/>
          </p:nvPr>
        </p:nvSpPr>
        <p:spPr>
          <a:xfrm>
            <a:off x="419100" y="1456897"/>
            <a:ext cx="11340811" cy="2492990"/>
          </a:xfrm>
        </p:spPr>
        <p:txBody>
          <a:bodyPr/>
          <a:lstStyle/>
          <a:p>
            <a:pPr marL="342900" indent="-342900">
              <a:buFont typeface="Arial" panose="020B0604020202020204" pitchFamily="34" charset="0"/>
              <a:buChar char="•"/>
            </a:pPr>
            <a:r>
              <a:rPr lang="en-HK" dirty="0"/>
              <a:t>Customized into a 2.5 hour session</a:t>
            </a:r>
          </a:p>
          <a:p>
            <a:pPr marL="342900" indent="-342900">
              <a:buFont typeface="Arial" panose="020B0604020202020204" pitchFamily="34" charset="0"/>
              <a:buChar char="•"/>
            </a:pPr>
            <a:r>
              <a:rPr lang="en-HK" dirty="0"/>
              <a:t>High level overview of </a:t>
            </a:r>
            <a:r>
              <a:rPr lang="en-US" sz="2400" dirty="0">
                <a:latin typeface="+mn-lt"/>
              </a:rPr>
              <a:t>basic understanding of Azure Services, Architecture and its Solutions</a:t>
            </a:r>
          </a:p>
          <a:p>
            <a:pPr marL="342900" indent="-342900">
              <a:spcAft>
                <a:spcPts val="1200"/>
              </a:spcAft>
              <a:buFont typeface="Arial" panose="020B0604020202020204" pitchFamily="34" charset="0"/>
              <a:buChar char="•"/>
            </a:pPr>
            <a:r>
              <a:rPr lang="en-US" dirty="0"/>
              <a:t>Common use cases of adopting Azure</a:t>
            </a:r>
          </a:p>
          <a:p>
            <a:pPr marL="342900" indent="-342900">
              <a:spcAft>
                <a:spcPts val="1200"/>
              </a:spcAft>
              <a:buFont typeface="Arial" panose="020B0604020202020204" pitchFamily="34" charset="0"/>
              <a:buChar char="•"/>
            </a:pPr>
            <a:r>
              <a:rPr lang="en-US" dirty="0"/>
              <a:t>Discussion : </a:t>
            </a:r>
            <a:r>
              <a:rPr lang="en-US" b="1" u="sng" dirty="0"/>
              <a:t>How much can Azure provide to fit HKJC business</a:t>
            </a:r>
          </a:p>
        </p:txBody>
      </p:sp>
    </p:spTree>
    <p:extLst>
      <p:ext uri="{BB962C8B-B14F-4D97-AF65-F5344CB8AC3E}">
        <p14:creationId xmlns:p14="http://schemas.microsoft.com/office/powerpoint/2010/main" val="406867937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Course Agenda</a:t>
            </a:r>
          </a:p>
        </p:txBody>
      </p:sp>
      <p:graphicFrame>
        <p:nvGraphicFramePr>
          <p:cNvPr id="8" name="Table 8">
            <a:extLst>
              <a:ext uri="{FF2B5EF4-FFF2-40B4-BE49-F238E27FC236}">
                <a16:creationId xmlns:a16="http://schemas.microsoft.com/office/drawing/2014/main" id="{8B2F1288-01AD-49EA-A5AB-78D86FC6AF45}"/>
              </a:ext>
            </a:extLst>
          </p:cNvPr>
          <p:cNvGraphicFramePr>
            <a:graphicFrameLocks noGrp="1"/>
          </p:cNvGraphicFramePr>
          <p:nvPr>
            <p:extLst>
              <p:ext uri="{D42A27DB-BD31-4B8C-83A1-F6EECF244321}">
                <p14:modId xmlns:p14="http://schemas.microsoft.com/office/powerpoint/2010/main" val="3261260836"/>
              </p:ext>
            </p:extLst>
          </p:nvPr>
        </p:nvGraphicFramePr>
        <p:xfrm>
          <a:off x="3038476" y="515985"/>
          <a:ext cx="9021710" cy="3272792"/>
        </p:xfrm>
        <a:graphic>
          <a:graphicData uri="http://schemas.openxmlformats.org/drawingml/2006/table">
            <a:tbl>
              <a:tblPr firstRow="1" bandRow="1">
                <a:tableStyleId>{5C22544A-7EE6-4342-B048-85BDC9FD1C3A}</a:tableStyleId>
              </a:tblPr>
              <a:tblGrid>
                <a:gridCol w="9021710">
                  <a:extLst>
                    <a:ext uri="{9D8B030D-6E8A-4147-A177-3AD203B41FA5}">
                      <a16:colId xmlns:a16="http://schemas.microsoft.com/office/drawing/2014/main" val="929034746"/>
                    </a:ext>
                  </a:extLst>
                </a:gridCol>
              </a:tblGrid>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b="0" dirty="0">
                          <a:solidFill>
                            <a:schemeClr val="tx1"/>
                          </a:solidFill>
                          <a:latin typeface="+mn-lt"/>
                        </a:rPr>
                        <a:t>Module 01 – Cloud Adoption and </a:t>
                      </a:r>
                      <a:r>
                        <a:rPr lang="en-US" sz="2400" b="0">
                          <a:solidFill>
                            <a:schemeClr val="tx1"/>
                          </a:solidFill>
                          <a:latin typeface="+mn-lt"/>
                        </a:rPr>
                        <a:t>Migration Framework</a:t>
                      </a:r>
                      <a:endParaRPr lang="en-US" sz="2400"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551441"/>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latin typeface="+mn-lt"/>
                        </a:rPr>
                        <a:t>Module 02 – Core Azure Services</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9519469"/>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latin typeface="+mn-lt"/>
                        </a:rPr>
                        <a:t>Module 03 – Data Analytics And Other Services</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79017"/>
                  </a:ext>
                </a:extLst>
              </a:tr>
              <a:tr h="818198">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mn-lt"/>
                        </a:rPr>
                        <a:t>Module 04 – </a:t>
                      </a:r>
                      <a:r>
                        <a:rPr lang="en-US" sz="2400">
                          <a:solidFill>
                            <a:schemeClr val="tx1"/>
                          </a:solidFill>
                          <a:latin typeface="+mn-lt"/>
                        </a:rPr>
                        <a:t>Management And Governance</a:t>
                      </a:r>
                      <a:endParaRPr lang="en-US" sz="24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0208029"/>
                  </a:ext>
                </a:extLst>
              </a:tr>
            </a:tbl>
          </a:graphicData>
        </a:graphic>
      </p:graphicFrame>
    </p:spTree>
    <p:extLst>
      <p:ext uri="{BB962C8B-B14F-4D97-AF65-F5344CB8AC3E}">
        <p14:creationId xmlns:p14="http://schemas.microsoft.com/office/powerpoint/2010/main" val="2793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4CCE59-3094-4FC2-BA90-278E491ADC24}">
  <ds:schemaRefs>
    <ds:schemaRef ds:uri="e7cc3f53-dbdf-4ffb-90f1-33d3d1806439"/>
    <ds:schemaRef ds:uri="http://purl.org/dc/term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6656ffad-92b0-4efb-bc78-5d5af2c7fd93"/>
    <ds:schemaRef ds:uri="http://schemas.microsoft.com/office/2006/metadata/properties"/>
  </ds:schemaRefs>
</ds:datastoreItem>
</file>

<file path=customXml/itemProps2.xml><?xml version="1.0" encoding="utf-8"?>
<ds:datastoreItem xmlns:ds="http://schemas.openxmlformats.org/officeDocument/2006/customXml" ds:itemID="{60F385C1-2E82-45AF-B7AA-67D8857994FF}">
  <ds:schemaRefs>
    <ds:schemaRef ds:uri="http://schemas.microsoft.com/sharepoint/v3/contenttype/forms"/>
  </ds:schemaRefs>
</ds:datastoreItem>
</file>

<file path=customXml/itemProps3.xml><?xml version="1.0" encoding="utf-8"?>
<ds:datastoreItem xmlns:ds="http://schemas.openxmlformats.org/officeDocument/2006/customXml" ds:itemID="{B7F77E01-1251-46DC-9B37-0450F0E3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419</Words>
  <Application>Microsoft Office PowerPoint</Application>
  <PresentationFormat>Widescreen</PresentationFormat>
  <Paragraphs>48</Paragraphs>
  <Slides>7</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Arial</vt:lpstr>
      <vt:lpstr>Segoe UI</vt:lpstr>
      <vt:lpstr>Segoe UI Light</vt:lpstr>
      <vt:lpstr>Segoe UI Semibold</vt:lpstr>
      <vt:lpstr>Segoe UI Semilight</vt:lpstr>
      <vt:lpstr>Wingdings</vt:lpstr>
      <vt:lpstr>WHITE TEMPLATE</vt:lpstr>
      <vt:lpstr>Microsoft Power Platform Template</vt:lpstr>
      <vt:lpstr>Microsoft Azure Training</vt:lpstr>
      <vt:lpstr>Welcome</vt:lpstr>
      <vt:lpstr>Hello, World!</vt:lpstr>
      <vt:lpstr>How to pronounce “Azure”</vt:lpstr>
      <vt:lpstr>About the original course</vt:lpstr>
      <vt:lpstr>About this technical sharing</vt:lpstr>
      <vt:lpstr>Course Agenda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Microsoft Azure Fundamentals</dc:title>
  <dc:creator/>
  <cp:lastModifiedBy/>
  <cp:revision>1</cp:revision>
  <dcterms:created xsi:type="dcterms:W3CDTF">2020-08-21T18:56:51Z</dcterms:created>
  <dcterms:modified xsi:type="dcterms:W3CDTF">2022-07-14T02:39:55Z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